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640080" y="45720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Telecom Customer Churn Prediction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371600"/>
            <a:ext cx="10332720" cy="4937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000"/>
              </a:spcAft>
              <a:defRPr sz="2000"/>
            </a:pPr>
            <a:r>
              <a:t>B.Tech CSE — Machine Learning Case Study</a:t>
            </a:r>
          </a:p>
          <a:p>
            <a:pPr>
              <a:spcAft>
                <a:spcPts val="1000"/>
              </a:spcAft>
              <a:defRPr sz="2000"/>
            </a:pPr>
            <a:r>
              <a:t>20-mark end-to-end classification project</a:t>
            </a:r>
          </a:p>
          <a:p>
            <a:pPr>
              <a:spcAft>
                <a:spcPts val="1000"/>
              </a:spcAft>
              <a:defRPr sz="2000"/>
            </a:pPr>
            <a:r>
              <a:t>Goal: identify customers likely to churn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640080" y="45720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Problem &amp; Objectives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371600"/>
            <a:ext cx="10332720" cy="4937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000"/>
              </a:spcAft>
              <a:defRPr sz="2000"/>
            </a:pPr>
            <a:r>
              <a:t>Binary classification: Churn Yes/No</a:t>
            </a:r>
          </a:p>
          <a:p>
            <a:pPr>
              <a:spcAft>
                <a:spcPts val="1000"/>
              </a:spcAft>
              <a:defRPr sz="2000"/>
            </a:pPr>
            <a:r>
              <a:t>Perform EDA and preprocessing</a:t>
            </a:r>
          </a:p>
          <a:p>
            <a:pPr>
              <a:spcAft>
                <a:spcPts val="1000"/>
              </a:spcAft>
              <a:defRPr sz="2000"/>
            </a:pPr>
            <a:r>
              <a:t>Train five required algorithms</a:t>
            </a:r>
          </a:p>
          <a:p>
            <a:pPr>
              <a:spcAft>
                <a:spcPts val="1000"/>
              </a:spcAft>
              <a:defRPr sz="2000"/>
            </a:pPr>
            <a:r>
              <a:t>Compare Accuracy, Precision, Recall, F1 and confusion matrices</a:t>
            </a:r>
          </a:p>
          <a:p>
            <a:pPr>
              <a:spcAft>
                <a:spcPts val="1000"/>
              </a:spcAft>
              <a:defRPr sz="2000"/>
            </a:pPr>
            <a:r>
              <a:t>Use k-fold CV and deploy an interactive application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640080" y="45720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Dataset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371600"/>
            <a:ext cx="10332720" cy="4937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000"/>
              </a:spcAft>
              <a:defRPr sz="2000"/>
            </a:pPr>
            <a:r>
              <a:t>IBM Telco Customer Churn sample</a:t>
            </a:r>
          </a:p>
          <a:p>
            <a:pPr>
              <a:spcAft>
                <a:spcPts val="1000"/>
              </a:spcAft>
              <a:defRPr sz="2000"/>
            </a:pPr>
            <a:r>
              <a:t>7,043 customers × 21 raw columns</a:t>
            </a:r>
          </a:p>
          <a:p>
            <a:pPr>
              <a:spcAft>
                <a:spcPts val="1000"/>
              </a:spcAft>
              <a:defRPr sz="2000"/>
            </a:pPr>
            <a:r>
              <a:t>Target: Churn</a:t>
            </a:r>
          </a:p>
          <a:p>
            <a:pPr>
              <a:spcAft>
                <a:spcPts val="1000"/>
              </a:spcAft>
              <a:defRPr sz="2000"/>
            </a:pPr>
            <a:r>
              <a:t>Demographics, tenure, services, contract, payment and billing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640080" y="45720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EDA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371600"/>
            <a:ext cx="10332720" cy="4937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000"/>
              </a:spcAft>
              <a:defRPr sz="2000"/>
            </a:pPr>
            <a:r>
              <a:t>Churn distribution</a:t>
            </a:r>
          </a:p>
          <a:p>
            <a:pPr>
              <a:spcAft>
                <a:spcPts val="1000"/>
              </a:spcAft>
              <a:defRPr sz="2000"/>
            </a:pPr>
            <a:r>
              <a:t>Contract vs churn</a:t>
            </a:r>
          </a:p>
          <a:p>
            <a:pPr>
              <a:spcAft>
                <a:spcPts val="1000"/>
              </a:spcAft>
              <a:defRPr sz="2000"/>
            </a:pPr>
            <a:r>
              <a:t>Tenure vs churn</a:t>
            </a:r>
          </a:p>
          <a:p>
            <a:pPr>
              <a:spcAft>
                <a:spcPts val="1000"/>
              </a:spcAft>
              <a:defRPr sz="2000"/>
            </a:pPr>
            <a:r>
              <a:t>Monthly charges vs churn</a:t>
            </a:r>
          </a:p>
          <a:p>
            <a:pPr>
              <a:spcAft>
                <a:spcPts val="1000"/>
              </a:spcAft>
              <a:defRPr sz="2000"/>
            </a:pPr>
            <a:r>
              <a:t>Internet service and payment method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640080" y="45720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Preprocessing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371600"/>
            <a:ext cx="10332720" cy="4937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000"/>
              </a:spcAft>
              <a:defRPr sz="2000"/>
            </a:pPr>
            <a:r>
              <a:t>Remove customerID</a:t>
            </a:r>
          </a:p>
          <a:p>
            <a:pPr>
              <a:spcAft>
                <a:spcPts val="1000"/>
              </a:spcAft>
              <a:defRPr sz="2000"/>
            </a:pPr>
            <a:r>
              <a:t>Convert TotalCharges to numeric</a:t>
            </a:r>
          </a:p>
          <a:p>
            <a:pPr>
              <a:spcAft>
                <a:spcPts val="1000"/>
              </a:spcAft>
              <a:defRPr sz="2000"/>
            </a:pPr>
            <a:r>
              <a:t>Median imputation for numeric missing values</a:t>
            </a:r>
          </a:p>
          <a:p>
            <a:pPr>
              <a:spcAft>
                <a:spcPts val="1000"/>
              </a:spcAft>
              <a:defRPr sz="2000"/>
            </a:pPr>
            <a:r>
              <a:t>One-hot encoding for categorical variables</a:t>
            </a:r>
          </a:p>
          <a:p>
            <a:pPr>
              <a:spcAft>
                <a:spcPts val="1000"/>
              </a:spcAft>
              <a:defRPr sz="2000"/>
            </a:pPr>
            <a:r>
              <a:t>Standardize numeric features</a:t>
            </a:r>
          </a:p>
          <a:p>
            <a:pPr>
              <a:spcAft>
                <a:spcPts val="1000"/>
              </a:spcAft>
              <a:defRPr sz="2000"/>
            </a:pPr>
            <a:r>
              <a:t>ColumnTransformer + Pipeline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640080" y="45720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Five Algorithms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371600"/>
            <a:ext cx="10332720" cy="4937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000"/>
              </a:spcAft>
              <a:defRPr sz="2000"/>
            </a:pPr>
            <a:r>
              <a:t>Logistic Regression</a:t>
            </a:r>
          </a:p>
          <a:p>
            <a:pPr>
              <a:spcAft>
                <a:spcPts val="1000"/>
              </a:spcAft>
              <a:defRPr sz="2000"/>
            </a:pPr>
            <a:r>
              <a:t>KNN</a:t>
            </a:r>
          </a:p>
          <a:p>
            <a:pPr>
              <a:spcAft>
                <a:spcPts val="1000"/>
              </a:spcAft>
              <a:defRPr sz="2000"/>
            </a:pPr>
            <a:r>
              <a:t>Decision Tree</a:t>
            </a:r>
          </a:p>
          <a:p>
            <a:pPr>
              <a:spcAft>
                <a:spcPts val="1000"/>
              </a:spcAft>
              <a:defRPr sz="2000"/>
            </a:pPr>
            <a:r>
              <a:t>Random Forest</a:t>
            </a:r>
          </a:p>
          <a:p>
            <a:pPr>
              <a:spcAft>
                <a:spcPts val="1000"/>
              </a:spcAft>
              <a:defRPr sz="2000"/>
            </a:pPr>
            <a:r>
              <a:t>Gradient Boosting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640080" y="45720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Evaluation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371600"/>
            <a:ext cx="10332720" cy="4937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000"/>
              </a:spcAft>
              <a:defRPr sz="2000"/>
            </a:pPr>
            <a:r>
              <a:t>Accuracy</a:t>
            </a:r>
          </a:p>
          <a:p>
            <a:pPr>
              <a:spcAft>
                <a:spcPts val="1000"/>
              </a:spcAft>
              <a:defRPr sz="2000"/>
            </a:pPr>
            <a:r>
              <a:t>Precision</a:t>
            </a:r>
          </a:p>
          <a:p>
            <a:pPr>
              <a:spcAft>
                <a:spcPts val="1000"/>
              </a:spcAft>
              <a:defRPr sz="2000"/>
            </a:pPr>
            <a:r>
              <a:t>Recall</a:t>
            </a:r>
          </a:p>
          <a:p>
            <a:pPr>
              <a:spcAft>
                <a:spcPts val="1000"/>
              </a:spcAft>
              <a:defRPr sz="2000"/>
            </a:pPr>
            <a:r>
              <a:t>F1-score</a:t>
            </a:r>
          </a:p>
          <a:p>
            <a:pPr>
              <a:spcAft>
                <a:spcPts val="1000"/>
              </a:spcAft>
              <a:defRPr sz="2000"/>
            </a:pPr>
            <a:r>
              <a:t>Confusion Matrix</a:t>
            </a:r>
          </a:p>
          <a:p>
            <a:pPr>
              <a:spcAft>
                <a:spcPts val="1000"/>
              </a:spcAft>
              <a:defRPr sz="2000"/>
            </a:pPr>
            <a:r>
              <a:t>ROC-AUC as an additional metric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640080" y="45720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Why Recall?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371600"/>
            <a:ext cx="10332720" cy="4937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000"/>
              </a:spcAft>
              <a:defRPr sz="2000"/>
            </a:pPr>
            <a:r>
              <a:t>Recall = TP / (TP + FN)</a:t>
            </a:r>
          </a:p>
          <a:p>
            <a:pPr>
              <a:spcAft>
                <a:spcPts val="1000"/>
              </a:spcAft>
              <a:defRPr sz="2000"/>
            </a:pPr>
            <a:r>
              <a:t>False Negative = actual churner missed</a:t>
            </a:r>
          </a:p>
          <a:p>
            <a:pPr>
              <a:spcAft>
                <a:spcPts val="1000"/>
              </a:spcAft>
              <a:defRPr sz="2000"/>
            </a:pPr>
            <a:r>
              <a:t>Case study explicitly emphasizes recall</a:t>
            </a:r>
          </a:p>
          <a:p>
            <a:pPr>
              <a:spcAft>
                <a:spcPts val="1000"/>
              </a:spcAft>
              <a:defRPr sz="2000"/>
            </a:pPr>
            <a:r>
              <a:t>Recall is the primary selection criterion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640080" y="45720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5-Fold Cross-Validation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371600"/>
            <a:ext cx="10332720" cy="4937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000"/>
              </a:spcAft>
              <a:defRPr sz="2000"/>
            </a:pPr>
            <a:r>
              <a:t>StratifiedKFold with 5 folds</a:t>
            </a:r>
          </a:p>
          <a:p>
            <a:pPr>
              <a:spcAft>
                <a:spcPts val="1000"/>
              </a:spcAft>
              <a:defRPr sz="2000"/>
            </a:pPr>
            <a:r>
              <a:t>Preserves class proportions</a:t>
            </a:r>
          </a:p>
          <a:p>
            <a:pPr>
              <a:spcAft>
                <a:spcPts val="1000"/>
              </a:spcAft>
              <a:defRPr sz="2000"/>
            </a:pPr>
            <a:r>
              <a:t>Mean Accuracy, Precision, Recall, F1 and ROC-AUC</a:t>
            </a:r>
          </a:p>
          <a:p>
            <a:pPr>
              <a:spcAft>
                <a:spcPts val="1000"/>
              </a:spcAft>
              <a:defRPr sz="2000"/>
            </a:pPr>
            <a:r>
              <a:t>Used to assess stability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640080" y="45720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Feature Analysis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371600"/>
            <a:ext cx="10332720" cy="4937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000"/>
              </a:spcAft>
              <a:defRPr sz="2000"/>
            </a:pPr>
            <a:r>
              <a:t>Inspect contract, tenure, charges and service/payment relationships</a:t>
            </a:r>
          </a:p>
          <a:p>
            <a:pPr>
              <a:spcAft>
                <a:spcPts val="1000"/>
              </a:spcAft>
              <a:defRPr sz="2000"/>
            </a:pPr>
            <a:r>
              <a:t>Use model coefficients/feature importance</a:t>
            </a:r>
          </a:p>
          <a:p>
            <a:pPr>
              <a:spcAft>
                <a:spcPts val="1000"/>
              </a:spcAft>
              <a:defRPr sz="2000"/>
            </a:pPr>
            <a:r>
              <a:t>Interpret as predictive associations, not causation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640080" y="45720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Deployment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371600"/>
            <a:ext cx="10332720" cy="4937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000"/>
              </a:spcAft>
              <a:defRPr sz="2000"/>
            </a:pPr>
            <a:r>
              <a:t>Streamlit web application</a:t>
            </a:r>
          </a:p>
          <a:p>
            <a:pPr>
              <a:spcAft>
                <a:spcPts val="1000"/>
              </a:spcAft>
              <a:defRPr sz="2000"/>
            </a:pPr>
            <a:r>
              <a:t>Dashboard + EDA + Model Comparison + Predictor + Methodology</a:t>
            </a:r>
          </a:p>
          <a:p>
            <a:pPr>
              <a:spcAft>
                <a:spcPts val="1000"/>
              </a:spcAft>
              <a:defRPr sz="2000"/>
            </a:pPr>
            <a:r>
              <a:t>High/Low risk</a:t>
            </a:r>
          </a:p>
          <a:p>
            <a:pPr>
              <a:spcAft>
                <a:spcPts val="1000"/>
              </a:spcAft>
              <a:defRPr sz="2000"/>
            </a:pPr>
            <a:r>
              <a:t>Churn probability</a:t>
            </a:r>
          </a:p>
          <a:p>
            <a:pPr>
              <a:spcAft>
                <a:spcPts val="1000"/>
              </a:spcAft>
              <a:defRPr sz="2000"/>
            </a:pPr>
            <a:r>
              <a:t>Prediction explanation</a:t>
            </a:r>
          </a:p>
          <a:p>
            <a:pPr>
              <a:spcAft>
                <a:spcPts val="1000"/>
              </a:spcAft>
              <a:defRPr sz="2000"/>
            </a:pPr>
            <a:r>
              <a:t>Demo profiles for higher/lower risk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640080" y="45720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Limitations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371600"/>
            <a:ext cx="10332720" cy="4937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000"/>
              </a:spcAft>
              <a:defRPr sz="2000"/>
            </a:pPr>
            <a:r>
              <a:t>Sample fictional-company dataset</a:t>
            </a:r>
          </a:p>
          <a:p>
            <a:pPr>
              <a:spcAft>
                <a:spcPts val="1000"/>
              </a:spcAft>
              <a:defRPr sz="2000"/>
            </a:pPr>
            <a:r>
              <a:t>Cross-sectional rather than temporal</a:t>
            </a:r>
          </a:p>
          <a:p>
            <a:pPr>
              <a:spcAft>
                <a:spcPts val="1000"/>
              </a:spcAft>
              <a:defRPr sz="2000"/>
            </a:pPr>
            <a:r>
              <a:t>Historical association is not causation</a:t>
            </a:r>
          </a:p>
          <a:p>
            <a:pPr>
              <a:spcAft>
                <a:spcPts val="1000"/>
              </a:spcAft>
              <a:defRPr sz="2000"/>
            </a:pPr>
            <a:r>
              <a:t>Data drift and calibration matter</a:t>
            </a:r>
          </a:p>
          <a:p>
            <a:pPr>
              <a:spcAft>
                <a:spcPts val="1000"/>
              </a:spcAft>
              <a:defRPr sz="2000"/>
            </a:pPr>
            <a:r>
              <a:t>Production requires privacy, monitoring and governance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